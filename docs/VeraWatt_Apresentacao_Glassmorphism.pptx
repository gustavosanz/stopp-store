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3716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822960"/>
            <a:ext cx="8869680" cy="5212080"/>
          </a:xfrm>
          <a:prstGeom prst="roundRect">
            <a:avLst>
              <a:gd name="adj" fmla="val 2456"/>
            </a:avLst>
          </a:prstGeom>
          <a:solidFill>
            <a:srgbClr val="0E1626">
              <a:alpha val="86000"/>
            </a:srgbClr>
          </a:solidFill>
          <a:ln w="15240">
            <a:solidFill>
              <a:srgbClr val="2E42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841248"/>
            <a:ext cx="8321040" cy="0"/>
          </a:xfrm>
          <a:prstGeom prst="line">
            <a:avLst/>
          </a:prstGeom>
          <a:noFill/>
          <a:ln w="25400">
            <a:solidFill>
              <a:srgbClr val="27E284"/>
            </a:solidFill>
            <a:prstDash val="solid"/>
          </a:ln>
        </p:spPr>
      </p:sp>
      <p:pic>
        <p:nvPicPr>
          <p:cNvPr id="7" name="Image 0" descr="C:/Users/Gustavo/Desktop/VeraWatt/app/src/main/res/drawable/verawatt_ativo2_4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80160"/>
            <a:ext cx="1371600" cy="1371600"/>
          </a:xfrm>
          <a:prstGeom prst="rect">
            <a:avLst/>
          </a:prstGeom>
        </p:spPr>
      </p:pic>
      <p:pic>
        <p:nvPicPr>
          <p:cNvPr id="8" name="Image 1" descr="C:/Users/Gustavo/Desktop/VeraWatt/app/src/main/res/drawable/verawatt_typography_4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834640"/>
            <a:ext cx="3383280" cy="868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Inteligente de Gestão e Otimização Energética Residencial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11680" y="4389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Ecossistema Móvel &amp; Web Conectado  |  Hardware Aware (Nothing Glyph Matrix)  |  AI Powered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834640" y="4937760"/>
            <a:ext cx="1554480" cy="347472"/>
          </a:xfrm>
          <a:prstGeom prst="roundRect">
            <a:avLst>
              <a:gd name="adj" fmla="val 47368"/>
            </a:avLst>
          </a:prstGeom>
          <a:solidFill>
            <a:srgbClr val="111C31">
              <a:alpha val="75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34640" y="4937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JETPACK COMPOSE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26280" y="4937760"/>
            <a:ext cx="1554480" cy="347472"/>
          </a:xfrm>
          <a:prstGeom prst="roundRect">
            <a:avLst>
              <a:gd name="adj" fmla="val 47368"/>
            </a:avLst>
          </a:prstGeom>
          <a:solidFill>
            <a:srgbClr val="111C31">
              <a:alpha val="75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26280" y="4937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GLYPH 2.0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217920" y="4937760"/>
            <a:ext cx="1554480" cy="347472"/>
          </a:xfrm>
          <a:prstGeom prst="roundRect">
            <a:avLst>
              <a:gd name="adj" fmla="val 47368"/>
            </a:avLst>
          </a:prstGeom>
          <a:solidFill>
            <a:srgbClr val="111C31">
              <a:alpha val="75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4937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 &amp; GEMINI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09560" y="4937760"/>
            <a:ext cx="1554480" cy="347472"/>
          </a:xfrm>
          <a:prstGeom prst="roundRect">
            <a:avLst>
              <a:gd name="adj" fmla="val 47368"/>
            </a:avLst>
          </a:prstGeom>
          <a:solidFill>
            <a:srgbClr val="111C31">
              <a:alpha val="75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09560" y="4937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v0.6-BETA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&amp; OPORTUNIDADE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Desafio da Gestão Energética Residencial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11C3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81328"/>
            <a:ext cx="28803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37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COMPLEXIDADE TARIFÁRIA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Tarifas Dinâmicas e Horas Ocultas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mercado ibérico (OMIE) possui tarifários bi-horários e tri-horários complexos. As famílias não sabem exatamente quando a eletricidade é mais barata para ligar eletrodomésticos pesados.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475488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E293B">
              <a:alpha val="70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846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5349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Gasto evitável na fatura mensal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481328"/>
            <a:ext cx="2880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37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DESPERDÍCIO SOLAR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2011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Excedente Fotovoltaico Desperdiçado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2743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Painéis solares produzem pico durante o meio-dia, quando os utilizadores estão fora. A energia excedente é vendida à rede a valores irrisórios por falta de automatização inteligente.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475488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E293B">
              <a:alpha val="70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846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5349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Energia solar não aproveitada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5528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481328"/>
            <a:ext cx="28803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1737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AUSÊNCIA DE FEEDBACK ATIVO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2011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Contadores Distantes e Silenciosos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0" y="2743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apps tradicionais das operadoras demoram 24h a 48h a consolidar os dados. Não existe perceção tátil ou visual imediata quando uma casa está a atingir o pico de potência contratada.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475488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E293B">
              <a:alpha val="70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846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48h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66760" y="5349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Atraso típico em portais normais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INTEGRADA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Solução Vera Watt: Conexão, Controlo e Inteligência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11C3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81328"/>
            <a:ext cx="4663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91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TELEMETRIA EM TEMPO REAL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Monitorização Ativa de Watts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instantânea da rede a cada 2 segundos. Identificação de aparelhos vampiro, alerta de potência excessiva e balanço entre consumo e injeção solar.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481328"/>
            <a:ext cx="4663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91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GLYPH MATRIX 2.0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Hardware-Aware Glyph Interface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pioneira com a traseira iluminada LED do Nothing Phone. A luz reage proporcionalmente à carga e ao estado da produção renovável sem abrir a app.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858768"/>
            <a:ext cx="4663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E AUDITORIA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Auditoria de Faturas &amp; Simulador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846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completo de despesas de energia, comparação entre comercializadoras e simulador de payback para painéis solares e baterias domésticas.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858768"/>
            <a:ext cx="4663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 INDEPENDENTE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Stopp Store &amp; PWA Offline-First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4846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Atualizações diretas sem intermediários através da Stopp Store, service worker blindado offline e proteção de acesso biométrico (Fingerprint / Face).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IDENTIDADE VISUAL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System: Estética Glassmorphism &amp; Nothing 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11C3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/ 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81328"/>
            <a:ext cx="2880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37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Vidro Fosco &amp; Profundidade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Backdrop Filter &amp; Transparência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281635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743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Cartões translúcidos com efeito de desfoque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63931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566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Bordas subtis com 1px de realce luminoso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446227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389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Hierarquia visual que destaca os dados vitais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528523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5212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Luzes difusas de fundo que dão vida à interface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81328"/>
            <a:ext cx="28803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737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Cores &amp; Contraste Vivo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2240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Energética e Sustentável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81635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43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Verde Esmeralda (#10B981): Energia ativa e limpa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63931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566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Menta Suave (#34D399): Produção solar e destaques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446227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389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Âmbar (#F59E0B): Horas de ponta e avisos da rede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528523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5212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Slate Escuro (#090E17): Contraste máximo OLED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1481328"/>
            <a:ext cx="2880360" cy="0"/>
          </a:xfrm>
          <a:prstGeom prst="line">
            <a:avLst/>
          </a:prstGeom>
          <a:noFill/>
          <a:ln w="25400">
            <a:solidFill>
              <a:srgbClr val="27E2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1737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Ativos Adaptativos 4x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0" y="22402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Alternância Dinâmica Claro / Escuro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281635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38" name="Text 36"/>
          <p:cNvSpPr/>
          <p:nvPr/>
        </p:nvSpPr>
        <p:spPr>
          <a:xfrm>
            <a:off x="8458200" y="2743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 1: Elementos escuros para fundos claros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0" y="363931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40" name="Text 38"/>
          <p:cNvSpPr/>
          <p:nvPr/>
        </p:nvSpPr>
        <p:spPr>
          <a:xfrm>
            <a:off x="8458200" y="3566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 2: Elementos luminosos para modo escuro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0" y="446227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42" name="Text 40"/>
          <p:cNvSpPr/>
          <p:nvPr/>
        </p:nvSpPr>
        <p:spPr>
          <a:xfrm>
            <a:off x="8458200" y="4389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Launcher Adaptativo com suporte a Themed Icons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5285232"/>
            <a:ext cx="109728" cy="109728"/>
          </a:xfrm>
          <a:prstGeom prst="ellipse">
            <a:avLst/>
          </a:prstGeom>
          <a:solidFill>
            <a:srgbClr val="27E284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5212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Animação de arranque com halo de energia elétrica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2860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 &amp; ARQUITETURA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Engenharia de Software: Stack Técnica Robusta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11C3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ENGENHARIA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81328"/>
            <a:ext cx="28803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73736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1E293B">
              <a:alpha val="75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737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NATIVO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Kotlin &amp; Jetpack Compose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91440" cy="914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100% Declarativa moderna com Compose 1.7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3566160"/>
            <a:ext cx="91440" cy="914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MVVM limpa e reativa (StateFlow)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4160520"/>
            <a:ext cx="91440" cy="914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 de I/O dedicada para telemetria (sem UI freezes)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" y="4754880"/>
            <a:ext cx="91440" cy="914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008" y="47091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BiometricPrompt para cofre seguro de dados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5840" y="5349240"/>
            <a:ext cx="91440" cy="914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3035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Retrofit 2 + OkHttp com fallbacks inteligentes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481328"/>
            <a:ext cx="2880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73736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1E293B">
              <a:alpha val="75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737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INTEGRADO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17720" y="21488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Glyph Matrix SDK 2.0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17720" y="2971800"/>
            <a:ext cx="91440" cy="914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direta com controladores LED da Nothing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3566160"/>
            <a:ext cx="91440" cy="914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Mapeamento dinâmico de zonas (Canais A, B e C)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4160520"/>
            <a:ext cx="91440" cy="914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Disparo em background para resposta instantânea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4754880"/>
            <a:ext cx="91440" cy="914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47091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Compatibilidade com modelos 20111, 23111, 24111, etc.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5349240"/>
            <a:ext cx="91440" cy="914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4818888" y="53035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Consumo de bateria otimizado sem polling excessivo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5528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1481328"/>
            <a:ext cx="2880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173736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1E293B">
              <a:alpha val="7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1737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STOPP STORE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229600" y="21488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&amp; Service Worker v11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9600" y="2971800"/>
            <a:ext cx="91440" cy="914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8430768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Offline-First com Cache Storage resiliente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29600" y="3566160"/>
            <a:ext cx="91440" cy="914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8430768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Desacoplamento assíncrono para zero congelamentos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29600" y="4160520"/>
            <a:ext cx="91440" cy="914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430768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Stopp Sentinel AI para diagnóstico e telemetria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29600" y="4754880"/>
            <a:ext cx="91440" cy="914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430768" y="47091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 de APKs sem intermediários de loja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229600" y="5349240"/>
            <a:ext cx="91440" cy="914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430768" y="53035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Notificações de sistema e changelog dinâmico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INTELIGÊNCIA ARTIFICIAL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Aceleração Inteligente com Google Cloud &amp; Gemini AI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11C3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€264 GCP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81328"/>
            <a:ext cx="4663440" cy="0"/>
          </a:xfrm>
          <a:prstGeom prst="line">
            <a:avLst/>
          </a:prstGeom>
          <a:noFill/>
          <a:ln w="25400">
            <a:solidFill>
              <a:srgbClr val="27E2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91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INTELIGENTE &amp; MULTIMODAL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Flash: Leitura de Faturas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utilizador fotografa a fatura de luz (EDP, Galp, Endesa). A IA multimodal extrai automaticamente a potência contratada, o consumo em horas de vazio/ponta e calcula a poupança fotovoltaica exata.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481328"/>
            <a:ext cx="4663440" cy="0"/>
          </a:xfrm>
          <a:prstGeom prst="line">
            <a:avLst/>
          </a:prstGeom>
          <a:noFill/>
          <a:ln w="25400">
            <a:solidFill>
              <a:srgbClr val="27E2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91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DADOS EM NUVEM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&amp; Cloud Firestore Sync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Sincronização bidirecional em tempo real entre o telemóvel e o portal web. Os dados de watts e faturas visualizados na app estão sincronizados no site instantaneamente.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858768"/>
            <a:ext cx="4663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GLOBAL DE ALTA VELOCIDADE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 Storage (GCS)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846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 direta de APKs a velocidades gigabit. Resolve definitivamente o throttling e os limites de tráfego do GitHub Pages para ficheiros binários pesados.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858768"/>
            <a:ext cx="4663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SERVERLESS 24/7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Run &amp; Funções Automatizadas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4846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Serviço serverless permanente que recolhe o preço da eletricidade do mercado OMIE/REN a cada hora e envia notificações push avisando as horas de custo negativo ou mínimo.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7432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EXPERIÊNCIA &amp; ECRÃS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da Aplicação Móvel Vera Watt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11C3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5091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81328"/>
            <a:ext cx="19659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737360"/>
            <a:ext cx="1005840" cy="292608"/>
          </a:xfrm>
          <a:prstGeom prst="roundRect">
            <a:avLst>
              <a:gd name="adj" fmla="val 46875"/>
            </a:avLst>
          </a:prstGeom>
          <a:solidFill>
            <a:srgbClr val="1E293B">
              <a:alpha val="8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373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Live Watts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2057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Mostrador central de potência com animação de pulso elétrico, controlo da interface Glyph Nothing OS e indicador em tempo real da injeção solar.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463040"/>
            <a:ext cx="2514600" cy="4663440"/>
          </a:xfrm>
          <a:prstGeom prst="roundRect">
            <a:avLst>
              <a:gd name="adj" fmla="val 5091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1481328"/>
            <a:ext cx="19659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737360"/>
            <a:ext cx="1005840" cy="292608"/>
          </a:xfrm>
          <a:prstGeom prst="roundRect">
            <a:avLst>
              <a:gd name="adj" fmla="val 46875"/>
            </a:avLst>
          </a:prstGeom>
          <a:solidFill>
            <a:srgbClr val="1E293B">
              <a:alpha val="8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7373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1488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Gráficos &amp; Histórico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2834640"/>
            <a:ext cx="2057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Visualização interativa por dia, semana e mês. Análise comparativa entre energia consumida da rede e energia solar autoproduzida.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2514600" cy="4663440"/>
          </a:xfrm>
          <a:prstGeom prst="roundRect">
            <a:avLst>
              <a:gd name="adj" fmla="val 5091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481328"/>
            <a:ext cx="1965960" cy="0"/>
          </a:xfrm>
          <a:prstGeom prst="line">
            <a:avLst/>
          </a:prstGeom>
          <a:noFill/>
          <a:ln w="25400">
            <a:solidFill>
              <a:srgbClr val="27E2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737360"/>
            <a:ext cx="1005840" cy="292608"/>
          </a:xfrm>
          <a:prstGeom prst="roundRect">
            <a:avLst>
              <a:gd name="adj" fmla="val 46875"/>
            </a:avLst>
          </a:prstGeom>
          <a:solidFill>
            <a:srgbClr val="1E293B">
              <a:alpha val="80000"/>
            </a:srgbClr>
          </a:solidFill>
          <a:ln w="10160">
            <a:solidFill>
              <a:srgbClr val="27E2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7373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1488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 Footprint &amp; CO2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2834640"/>
            <a:ext cx="2057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sustentabilidade: árvores salvas, emissões de carbono evitadas e índice de autossuficiência ecológica residencial.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23960" y="1463040"/>
            <a:ext cx="2514600" cy="4663440"/>
          </a:xfrm>
          <a:prstGeom prst="roundRect">
            <a:avLst>
              <a:gd name="adj" fmla="val 5091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1481328"/>
            <a:ext cx="19659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1737360"/>
            <a:ext cx="1005840" cy="292608"/>
          </a:xfrm>
          <a:prstGeom prst="roundRect">
            <a:avLst>
              <a:gd name="adj" fmla="val 46875"/>
            </a:avLst>
          </a:prstGeom>
          <a:solidFill>
            <a:srgbClr val="1E293B">
              <a:alpha val="8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17373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52560" y="21488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Faturas &amp; Simulador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52560" y="2834640"/>
            <a:ext cx="2057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Repositório de faturas mensais com simulação de tarifários e cofre com autenticação biométrica para proteção de dados confidenciais.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3716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PLANEAMENTO ESTRATÉGICO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de Desenvolvimento &amp; Próximos Passos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875520" y="5029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11C3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81328"/>
            <a:ext cx="28803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37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1: FUNDAÇÃO (v0.4)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05840" y="20116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CONCLUÍDO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e Integração Glyph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32278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3154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Implementação base Jetpack Compose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9136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3840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inicial do Nothing Glyph Matrix SDK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45994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4526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de dados para potência e faturas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52852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207008" y="5212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Publicação na Stopp Store inicial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481328"/>
            <a:ext cx="2880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737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2: MATURAÇÃO (v0.6-BETA)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7720" y="20116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VERSÃO ATUAL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17720" y="2423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Identidade 4x &amp; Blindagem Offline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617720" y="322783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3154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Ativos oficiais Vera Watt 4x (Ativo 1 e Ativo 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391363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840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Ecrã de abertura oficial com animação de carga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459943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4526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Worker v11 com cache de contingência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528523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5212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 Themed Icons Android 13+ / Nothing 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55280" y="1463040"/>
            <a:ext cx="3429000" cy="4663440"/>
          </a:xfrm>
          <a:prstGeom prst="roundRect">
            <a:avLst>
              <a:gd name="adj" fmla="val 3733"/>
            </a:avLst>
          </a:prstGeom>
          <a:solidFill>
            <a:srgbClr val="111C31">
              <a:alpha val="82000"/>
            </a:srgbClr>
          </a:solidFill>
          <a:ln w="12700">
            <a:solidFill>
              <a:srgbClr val="2434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1481328"/>
            <a:ext cx="2880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1737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3: INTELIGÊNCIA (v1.0 ESTÁVEL)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29600" y="20116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 PASSO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0" y="2423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Sync &amp; Gemini AI OCR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229600" y="32278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8430768" y="3154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de faturas com modelo multimodal Gemini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39136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8430768" y="3840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Sincronização em tempo real Firestore (Site &lt;-&gt; App)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0" y="45994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8430768" y="4526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preditivos de tarifário horário OMIE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52852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8430768" y="5212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Lançamento público da versão estável 1.0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37160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4389120" cy="438912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822960"/>
            <a:ext cx="8869680" cy="5212080"/>
          </a:xfrm>
          <a:prstGeom prst="roundRect">
            <a:avLst>
              <a:gd name="adj" fmla="val 2456"/>
            </a:avLst>
          </a:prstGeom>
          <a:solidFill>
            <a:srgbClr val="0E1626">
              <a:alpha val="86000"/>
            </a:srgbClr>
          </a:solidFill>
          <a:ln w="15240">
            <a:solidFill>
              <a:srgbClr val="2E42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841248"/>
            <a:ext cx="8321040" cy="0"/>
          </a:xfrm>
          <a:prstGeom prst="line">
            <a:avLst/>
          </a:prstGeom>
          <a:noFill/>
          <a:ln w="25400">
            <a:solidFill>
              <a:srgbClr val="27E284"/>
            </a:solidFill>
            <a:prstDash val="solid"/>
          </a:ln>
        </p:spPr>
      </p:sp>
      <p:pic>
        <p:nvPicPr>
          <p:cNvPr id="7" name="Image 0" descr="C:/Users/Gustavo/Desktop/VeraWatt/app/src/main/res/drawable/verawatt_ativo2_4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34440"/>
            <a:ext cx="1371600" cy="1371600"/>
          </a:xfrm>
          <a:prstGeom prst="rect">
            <a:avLst/>
          </a:prstGeom>
        </p:spPr>
      </p:pic>
      <p:pic>
        <p:nvPicPr>
          <p:cNvPr id="8" name="Image 1" descr="C:/Users/Gustavo/Desktop/VeraWatt/app/src/main/res/drawable/verawatt_typography_4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743200"/>
            <a:ext cx="3383280" cy="868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3794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Energia Renovável Inteligente para um Futuro Sustentável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11680" y="42519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E2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 pela Atenção! Questões &amp; Demonstração ao Vivo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926080" y="4846320"/>
            <a:ext cx="6309360" cy="822960"/>
          </a:xfrm>
          <a:prstGeom prst="roundRect">
            <a:avLst>
              <a:gd name="adj" fmla="val 16667"/>
            </a:avLst>
          </a:prstGeom>
          <a:solidFill>
            <a:srgbClr val="111C31">
              <a:alpha val="75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017520" y="49377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Stopp Store Portal: gustavosanz.github.io/Stopp-Store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Repositório Oficial: github.com/GustavoSanz/Stopp-Store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VERAWATT v0.6-BETA  |  STOPP STORE ECOSYSTEM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2026-10-14T14:10:08Z</dcterms:created>
  <dcterms:modified xsi:type="dcterms:W3CDTF">2026-10-14T14:10:08Z</dcterms:modified>
</cp:coreProperties>
</file>